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958389-7652-4C41-9F98-C8E6308C3417}">
  <a:tblStyle styleId="{0A958389-7652-4C41-9F98-C8E6308C34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73bd98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173bd98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173bd98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173bd98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173bd989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173bd989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173bd9899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173bd989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73bd989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173bd989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173bd989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173bd989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73bd9899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173bd9899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73bd9899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73bd9899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173bd9899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173bd9899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173bd9899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173bd9899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173bd9899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173bd9899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173bd9899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173bd9899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173bd9899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173bd9899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173bd9899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173bd989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173bd989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173bd989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347850" y="1073275"/>
            <a:ext cx="8448300" cy="14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Intelligent Movie Recommender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2834125"/>
            <a:ext cx="8520600" cy="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Raghav Khandelwal (011895398)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Sanjeev Sreekumar Krishnan (011915113)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Shruti Mallesh </a:t>
            </a:r>
            <a:r>
              <a:rPr lang="en"/>
              <a:t>(11914432)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Gautham Krishna Chakkalaparambil Sajeev (0119141</a:t>
            </a:r>
            <a:r>
              <a:rPr lang="en"/>
              <a:t>8)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862700" y="1929700"/>
            <a:ext cx="6227100" cy="3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Recommender systems predict user preferences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goal: build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movie rating predictor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both: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User–movie interaction (collaborative filtering)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Movie/user metadata (content-based)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Produces: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rating (0.5–5.0)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Top-10 recommendations</a:t>
            </a:r>
            <a:endParaRPr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Ratings dataset is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sparse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Cold-start movies have little interaction data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Metadata helps model movies more accurately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systems outperform pure CF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Aim: improve prediction accuracy and provide better recommendations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00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Definition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 ID + movie metadata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predicted rating + top-K recommendations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 RMSE/MAE, improve ranking quality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collaborative + content-based information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Learns latent representations via PMF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Enhances them using metadata from TMDB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Improves prediction accuracy and semantic coherence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Provides real-time recommendation via Streamlit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236375"/>
            <a:ext cx="76887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1665675"/>
            <a:ext cx="7688700" cy="3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MovieLens 20M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20M ratings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filtering: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138,493 users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15,451 movies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~19.9M ratings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TMDB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Genres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Cast &amp; crew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Budget, revenue, runtime, popularity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TF-IDF overview text embeddings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Metadata Processing Pipeline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30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Movie Metadata Includes:</a:t>
            </a:r>
            <a:endParaRPr b="1"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Genre one-hot vectors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Cast/crew frequency encodings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 features (budget, popularity…)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TF-IDF embeddings (500-dim)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Metadata:</a:t>
            </a:r>
            <a:endParaRPr b="1"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Aggregated metadata of rated movies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Architecture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7650" y="2078875"/>
            <a:ext cx="7688700" cy="28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Hybrid Model Workflow:</a:t>
            </a:r>
            <a:endParaRPr b="1" i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PMF produces base embeddings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Metadata → MLP → correction vectors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 user/movie vectors = PMF + correction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Dot product + biases → rating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0" title="architectur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2150" y="1853850"/>
            <a:ext cx="4164174" cy="304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Formulation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i="1"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i="1"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 g</a:t>
            </a: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MLP projections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i="1"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aggregated</a:t>
            </a: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user metadata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i="1"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movie metadata vector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1" title="Screenshot 2025-12-07 at 8.46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225" y="1991950"/>
            <a:ext cx="2962150" cy="8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Setup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Optimizer: Adam (LR = 5×10⁻⁴)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Batch size: 4096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Embedding dimension: 32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Dropout: 0.2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Epochs: 15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Train/Test split: 80/20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Comparison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0" name="Google Shape;150;p23"/>
          <p:cNvGraphicFramePr/>
          <p:nvPr/>
        </p:nvGraphicFramePr>
        <p:xfrm>
          <a:off x="882950" y="266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{0A958389-7652-4C41-9F98-C8E6308C3417}</a:tableStyleId>
              </a:tblPr>
              <a:tblGrid>
                <a:gridCol w="1453125"/>
                <a:gridCol w="1453125"/>
                <a:gridCol w="1453125"/>
                <a:gridCol w="1453125"/>
                <a:gridCol w="1453125"/>
              </a:tblGrid>
              <a:tr h="39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Model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RMSE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MAE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Precision@10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Recall@10</a:t>
                      </a:r>
                      <a:endParaRPr b="1" i="1"/>
                    </a:p>
                  </a:txBody>
                  <a:tcPr marT="91425" marB="91425" marR="91425" marL="91425"/>
                </a:tc>
              </a:tr>
              <a:tr h="39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PMF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Metadata-only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Hybrid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Recommendations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729450" y="2078875"/>
            <a:ext cx="7688700" cy="26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PMF only:</a:t>
            </a:r>
            <a:endParaRPr b="1" i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Shows popular mainstream titles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Less personalized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Hybrid Model:</a:t>
            </a:r>
            <a:endParaRPr b="1" i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Better genre alignment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Includes relevant long-tail titles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Shows increased diversity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29450" y="1327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 Application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endParaRPr b="1" i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Movie Search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Rating prediction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Personalized Top-10 recommendations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Fast vectorized inference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Interactive UI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Metadata quality varies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TF-IDF lacks semantic depth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PMF is linear → cannot capture higher-order interactions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temporal modeling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transformer embeddings (BERT/SBERT/LLM-based)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Deep hybrid recommenders (NeuMF, LightGCN)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Sequence-aware recommenders (SASRec, GRU4Rec)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Multi-modal (posters, trailer audio, LLaVA-like models)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Reinforcement learning for long-term user satisfaction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inimal workspace - Flat lay view photo of word thank you caligraphy note in a notebook siding with pen on white wooden background. Top View flat lay photography. New year 2018 thank you concept (Provided by Getty Images)"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00" y="1156800"/>
            <a:ext cx="7830851" cy="345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