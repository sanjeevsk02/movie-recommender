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Raleway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958389-7652-4C41-9F98-C8E6308C3417}">
  <a:tblStyle styleId="{0A958389-7652-4C41-9F98-C8E6308C34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173bd98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173bd98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173bd98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173bd98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173bd9899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173bd9899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173bd9899_2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173bd9899_2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173bd9899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173bd9899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173bd9899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173bd9899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173bd989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173bd989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173bd9899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9173bd9899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173bd9899_2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9173bd9899_2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173bd9899_2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173bd9899_2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173bd9899_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9173bd9899_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9173bd989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9173bd989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173bd9899_2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173bd9899_2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9173bd9899_2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9173bd9899_2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173bd9899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173bd9899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347850" y="1073275"/>
            <a:ext cx="8448300" cy="143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Intelligent Movie Recommender 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 dirty="0">
                <a:latin typeface="Lato"/>
                <a:ea typeface="Lato"/>
                <a:cs typeface="Lato"/>
                <a:sym typeface="Lato"/>
              </a:rPr>
              <a:t>Raghav Khandelwal (11895398)</a:t>
            </a:r>
            <a:endParaRPr sz="16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Lato"/>
                <a:ea typeface="Lato"/>
                <a:cs typeface="Lato"/>
                <a:sym typeface="Lato"/>
              </a:rPr>
              <a:t>Sanjeev Sreekumar Krishnan (11915113)</a:t>
            </a:r>
            <a:endParaRPr sz="16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Lato"/>
                <a:ea typeface="Lato"/>
                <a:cs typeface="Lato"/>
                <a:sym typeface="Lato"/>
              </a:rPr>
              <a:t>Shruti Mallesh </a:t>
            </a:r>
            <a:r>
              <a:rPr lang="en" dirty="0"/>
              <a:t>(11914432)</a:t>
            </a:r>
            <a:endParaRPr sz="16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n" sz="1600" dirty="0">
                <a:latin typeface="Lato"/>
                <a:ea typeface="Lato"/>
                <a:cs typeface="Lato"/>
                <a:sym typeface="Lato"/>
              </a:rPr>
              <a:t>Gautham Krishna Chakkalaparambil </a:t>
            </a:r>
            <a:r>
              <a:rPr lang="en" sz="1600">
                <a:latin typeface="Lato"/>
                <a:ea typeface="Lato"/>
                <a:cs typeface="Lato"/>
                <a:sym typeface="Lato"/>
              </a:rPr>
              <a:t>Sajeev (119141</a:t>
            </a:r>
            <a:r>
              <a:rPr lang="en"/>
              <a:t>80</a:t>
            </a:r>
            <a:r>
              <a:rPr lang="en" dirty="0"/>
              <a:t>)</a:t>
            </a:r>
            <a:r>
              <a:rPr lang="en" sz="1600" dirty="0">
                <a:latin typeface="Lato"/>
                <a:ea typeface="Lato"/>
                <a:cs typeface="Lato"/>
                <a:sym typeface="Lato"/>
              </a:rPr>
              <a:t> </a:t>
            </a:r>
            <a:endParaRPr sz="1600" dirty="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862700" y="1929700"/>
            <a:ext cx="6227100" cy="340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Recommender systems predict user preferences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Our goal: build a </a:t>
            </a: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personalized movie rating predictor</a:t>
            </a:r>
            <a:b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Uses both: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User–movie interaction (collaborative filtering)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Movie/user metadata (content-based)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Produces: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Predicted rating (0.5–5.0)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Top-10 recommendations</a:t>
            </a:r>
            <a:endParaRPr sz="4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Motivation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Ratings dataset is </a:t>
            </a:r>
            <a:r>
              <a:rPr lang="en" sz="11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sparse</a:t>
            </a:r>
            <a:br>
              <a:rPr lang="en" sz="11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Cold-start movies have little interaction data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Metadata helps model movies more accurately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Hybrid systems outperform pure CF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Aim: improve prediction accuracy and provide better recommendations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endParaRPr sz="1007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Definition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Input: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user ID + movie metadata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Output: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predicted rating + top-K recommendations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Objective: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reduce RMSE/MAE, improve ranking quality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Combine collaborative + content-based information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Goal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Learns latent representations via PMF</a:t>
            </a:r>
            <a:b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Enhances them using metadata from TMDB</a:t>
            </a:r>
            <a:b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Improves prediction accuracy and semantic coherence</a:t>
            </a:r>
            <a:b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Provides real-time recommendation via Streamlit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729450" y="1236375"/>
            <a:ext cx="7688700" cy="48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Datasets</a:t>
            </a:r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729450" y="1665675"/>
            <a:ext cx="7688700" cy="3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MovieLens 20M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20M ratings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filtering: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lphaLcPeriod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138,493 users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lphaLcPeriod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15,451 movies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lphaLcPeriod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~19.9M ratings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TMDB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Genres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Cast &amp; crew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Keywords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Budget, revenue, runtime, popularity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TF-IDF overview text embeddings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50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4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Metadata Processing Pipeline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302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Movie Metadata Includes:</a:t>
            </a:r>
            <a:endParaRPr sz="1100" b="1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Genre one-hot vectors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Cast/crew frequency encodings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Keywords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Numeric features (budget, popularity…)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TF-IDF embeddings (500-dim)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Metadata:</a:t>
            </a:r>
            <a:endParaRPr sz="1100" b="1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Aggregated metadata of rated movies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Architecture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body" idx="1"/>
          </p:nvPr>
        </p:nvSpPr>
        <p:spPr>
          <a:xfrm>
            <a:off x="727650" y="2078875"/>
            <a:ext cx="7688700" cy="28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Hybrid Model Workflow:</a:t>
            </a:r>
            <a:endParaRPr sz="1100" b="1" i="1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PMF produces base embeddings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Metadata → MLP → correction vectors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Final user/movie vectors = PMF + correction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Dot product + biases → rating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20" title="architecture_diagr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2150" y="1853850"/>
            <a:ext cx="4164174" cy="304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Mathematical Formulation</a:t>
            </a:r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298767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Arial"/>
              <a:buChar char="●"/>
            </a:pPr>
            <a:r>
              <a:rPr lang="en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h,  g</a:t>
            </a:r>
            <a:r>
              <a:rPr lang="en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= MLP projections</a:t>
            </a:r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76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Arial"/>
              <a:buChar char="●"/>
            </a:pPr>
            <a:r>
              <a:rPr lang="en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</a:t>
            </a:r>
            <a:r>
              <a:rPr lang="en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= aggregated user metadata</a:t>
            </a:r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76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Arial"/>
              <a:buChar char="●"/>
            </a:pPr>
            <a:r>
              <a:rPr lang="en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= movie metadata vector</a:t>
            </a:r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37" name="Google Shape;137;p21" title="Screenshot 2025-12-07 at 8.46.1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2225" y="1991950"/>
            <a:ext cx="2962150" cy="86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Setup</a:t>
            </a:r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Optimizer: Adam (LR = 5×10⁻⁴)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Batch size: 4096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Embedding dimension: 32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Dropout: 0.2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Epochs: 15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Train/Test split: 80/20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Baseline Comparison</a:t>
            </a: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150" name="Google Shape;150;p23"/>
          <p:cNvGraphicFramePr/>
          <p:nvPr/>
        </p:nvGraphicFramePr>
        <p:xfrm>
          <a:off x="882950" y="2668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{0A958389-7652-4C41-9F98-C8E6308C3417}</a:tableStyleId>
              </a:tblPr>
              <a:tblGrid>
                <a:gridCol w="145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53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i="1"/>
                        <a:t>Model</a:t>
                      </a:r>
                      <a:endParaRPr b="1" i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i="1"/>
                        <a:t>RMSE</a:t>
                      </a:r>
                      <a:endParaRPr b="1" i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i="1"/>
                        <a:t>MAE</a:t>
                      </a:r>
                      <a:endParaRPr b="1" i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i="1"/>
                        <a:t>Precision@10</a:t>
                      </a:r>
                      <a:endParaRPr b="1" i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i="1"/>
                        <a:t>Recall@10</a:t>
                      </a:r>
                      <a:endParaRPr b="1" i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PMF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0.832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0.832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0.184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0.129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Metadata-only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0.871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0.651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0.161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0.112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Hybrid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0.805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0.605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0.212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0.148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Study: Recommendations</a:t>
            </a: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6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PMF only:</a:t>
            </a:r>
            <a:endParaRPr sz="1100" b="1" i="1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Shows popular mainstream titles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Less personalized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Hybrid Model:</a:t>
            </a:r>
            <a:endParaRPr sz="1100" b="1" i="1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Better genre alignment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Includes relevant long-tail titles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Shows increased diversity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729450" y="13275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Streamlit Application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Features:</a:t>
            </a:r>
            <a:endParaRPr sz="1100" b="1" i="1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Movie Search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Rating prediction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Personalized Top-10 recommendations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Fast vectorized inference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Interactive UI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Limitations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Metadata quality varies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TF-IDF lacks semantic depth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PMF is linear → cannot capture higher-order interactions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 temporal modeling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Future Work</a:t>
            </a:r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Use transformer embeddings (BERT/SBERT/LLM-based)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Deep hybrid recommenders (NeuMF, LightGCN)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Sequence-aware recommenders (SASRec, GRU4Rec)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Multi-modal (posters, trailer audio, LLaVA-like models)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Reinforcement learning for long-term user satisfaction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2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1" name="Google Shape;181;p28" descr="Minimal workspace - Flat lay view photo of word thank you caligraphy note in a notebook siding with pen on white wooden background. Top View flat lay photography. New year 2018 thank you concept (Provided by Getty Images)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7300" y="1156800"/>
            <a:ext cx="7830851" cy="345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455</Words>
  <Application>Microsoft Office PowerPoint</Application>
  <PresentationFormat>On-screen Show (16:9)</PresentationFormat>
  <Paragraphs>120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Raleway</vt:lpstr>
      <vt:lpstr>Lato</vt:lpstr>
      <vt:lpstr>Arial</vt:lpstr>
      <vt:lpstr>Streamline</vt:lpstr>
      <vt:lpstr>Intelligent Movie Recommender </vt:lpstr>
      <vt:lpstr>Introduction</vt:lpstr>
      <vt:lpstr>Motivation</vt:lpstr>
      <vt:lpstr>Problem Definition</vt:lpstr>
      <vt:lpstr>Project Goal</vt:lpstr>
      <vt:lpstr>Datasets</vt:lpstr>
      <vt:lpstr>Metadata Processing Pipeline</vt:lpstr>
      <vt:lpstr>Model Architecture</vt:lpstr>
      <vt:lpstr>Mathematical Formulation</vt:lpstr>
      <vt:lpstr>Training Setup</vt:lpstr>
      <vt:lpstr>Baseline Comparison</vt:lpstr>
      <vt:lpstr>Case Study: Recommendations</vt:lpstr>
      <vt:lpstr>Streamlit Application</vt:lpstr>
      <vt:lpstr>Limitations</vt:lpstr>
      <vt:lpstr>Future 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Sanjeev Sreekumar Krishnan</cp:lastModifiedBy>
  <cp:revision>1</cp:revision>
  <dcterms:modified xsi:type="dcterms:W3CDTF">2025-12-08T06:38:05Z</dcterms:modified>
</cp:coreProperties>
</file>